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0" r:id="rId3"/>
    <p:sldId id="262" r:id="rId4"/>
    <p:sldId id="263" r:id="rId5"/>
    <p:sldId id="261" r:id="rId6"/>
    <p:sldId id="268" r:id="rId7"/>
    <p:sldId id="276" r:id="rId8"/>
    <p:sldId id="272" r:id="rId9"/>
    <p:sldId id="267"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CC"/>
    <a:srgbClr val="ECECEC"/>
    <a:srgbClr val="72B0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88" autoAdjust="0"/>
    <p:restoredTop sz="16522" autoAdjust="0"/>
  </p:normalViewPr>
  <p:slideViewPr>
    <p:cSldViewPr snapToGrid="0">
      <p:cViewPr>
        <p:scale>
          <a:sx n="67" d="100"/>
          <a:sy n="67" d="100"/>
        </p:scale>
        <p:origin x="1675" y="-9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76A443-8DDA-42B4-B99A-7D7CE64A1251}" type="datetimeFigureOut">
              <a:rPr lang="en-US" smtClean="0"/>
              <a:t>3/3/2025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2302E6-0866-4B79-9408-80A4EB564126}" type="slidenum">
              <a:rPr lang="en-US" smtClean="0"/>
              <a:t>‹#›</a:t>
            </a:fld>
            <a:endParaRPr lang="en-US"/>
          </a:p>
        </p:txBody>
      </p:sp>
    </p:spTree>
    <p:extLst>
      <p:ext uri="{BB962C8B-B14F-4D97-AF65-F5344CB8AC3E}">
        <p14:creationId xmlns:p14="http://schemas.microsoft.com/office/powerpoint/2010/main" val="92538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of you who don’t know me, hi! My name is Crystal McEnhimer, and the dataset I’m going to explore today is titled “the </a:t>
            </a:r>
            <a:r>
              <a:rPr lang="en-US" dirty="0" err="1"/>
              <a:t>spongebob</a:t>
            </a:r>
            <a:r>
              <a:rPr lang="en-US" dirty="0"/>
              <a:t> </a:t>
            </a:r>
            <a:r>
              <a:rPr lang="en-US" dirty="0" err="1"/>
              <a:t>squarepants</a:t>
            </a:r>
            <a:r>
              <a:rPr lang="en-US" dirty="0"/>
              <a:t> episode dataset”. And it’s exactly what it sounds like</a:t>
            </a:r>
          </a:p>
        </p:txBody>
      </p:sp>
      <p:sp>
        <p:nvSpPr>
          <p:cNvPr id="4" name="Slide Number Placeholder 3"/>
          <p:cNvSpPr>
            <a:spLocks noGrp="1"/>
          </p:cNvSpPr>
          <p:nvPr>
            <p:ph type="sldNum" sz="quarter" idx="5"/>
          </p:nvPr>
        </p:nvSpPr>
        <p:spPr/>
        <p:txBody>
          <a:bodyPr/>
          <a:lstStyle/>
          <a:p>
            <a:fld id="{502302E6-0866-4B79-9408-80A4EB564126}" type="slidenum">
              <a:rPr lang="en-US" smtClean="0"/>
              <a:t>1</a:t>
            </a:fld>
            <a:endParaRPr lang="en-US"/>
          </a:p>
        </p:txBody>
      </p:sp>
    </p:spTree>
    <p:extLst>
      <p:ext uri="{BB962C8B-B14F-4D97-AF65-F5344CB8AC3E}">
        <p14:creationId xmlns:p14="http://schemas.microsoft.com/office/powerpoint/2010/main" val="2061478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were 25 columns within this dataset, ranging everywhere from the year the episode was copyrighted, to the episode’s premiere time in the US, to every single character that ever graced the screen. In excruciating detail. But, for the purposes of this exploration, we’re going to focus on 8 main columns.</a:t>
            </a:r>
          </a:p>
          <a:p>
            <a:endParaRPr lang="en-US" dirty="0"/>
          </a:p>
          <a:p>
            <a:r>
              <a:rPr lang="en-US" dirty="0"/>
              <a:t> #There’s a short, 3 minute episode where </a:t>
            </a:r>
            <a:r>
              <a:rPr lang="en-US" dirty="0" err="1"/>
              <a:t>spongebob</a:t>
            </a:r>
            <a:r>
              <a:rPr lang="en-US" dirty="0"/>
              <a:t> uses a “reef blower”, which is the undersea equivalent of a leaf blower, and they listed the reef blower as a character. #All that to say, they didn’t spare any details when compiling this dataset. I chose to focus on 7 main columns </a:t>
            </a:r>
          </a:p>
        </p:txBody>
      </p:sp>
      <p:sp>
        <p:nvSpPr>
          <p:cNvPr id="4" name="Slide Number Placeholder 3"/>
          <p:cNvSpPr>
            <a:spLocks noGrp="1"/>
          </p:cNvSpPr>
          <p:nvPr>
            <p:ph type="sldNum" sz="quarter" idx="5"/>
          </p:nvPr>
        </p:nvSpPr>
        <p:spPr/>
        <p:txBody>
          <a:bodyPr/>
          <a:lstStyle/>
          <a:p>
            <a:fld id="{502302E6-0866-4B79-9408-80A4EB564126}" type="slidenum">
              <a:rPr lang="en-US" smtClean="0"/>
              <a:t>3</a:t>
            </a:fld>
            <a:endParaRPr lang="en-US"/>
          </a:p>
        </p:txBody>
      </p:sp>
    </p:spTree>
    <p:extLst>
      <p:ext uri="{BB962C8B-B14F-4D97-AF65-F5344CB8AC3E}">
        <p14:creationId xmlns:p14="http://schemas.microsoft.com/office/powerpoint/2010/main" val="773270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columns are comprised of 4 categorical variables, which are the names of every animator, writer, and producer that worked on the episode, and the name of every character that appeared. The 3 numeric variables are the episode and season number, and the number of viewers for this episode.</a:t>
            </a:r>
          </a:p>
        </p:txBody>
      </p:sp>
      <p:sp>
        <p:nvSpPr>
          <p:cNvPr id="4" name="Slide Number Placeholder 3"/>
          <p:cNvSpPr>
            <a:spLocks noGrp="1"/>
          </p:cNvSpPr>
          <p:nvPr>
            <p:ph type="sldNum" sz="quarter" idx="5"/>
          </p:nvPr>
        </p:nvSpPr>
        <p:spPr/>
        <p:txBody>
          <a:bodyPr/>
          <a:lstStyle/>
          <a:p>
            <a:fld id="{502302E6-0866-4B79-9408-80A4EB564126}" type="slidenum">
              <a:rPr lang="en-US" smtClean="0"/>
              <a:t>4</a:t>
            </a:fld>
            <a:endParaRPr lang="en-US"/>
          </a:p>
        </p:txBody>
      </p:sp>
    </p:spTree>
    <p:extLst>
      <p:ext uri="{BB962C8B-B14F-4D97-AF65-F5344CB8AC3E}">
        <p14:creationId xmlns:p14="http://schemas.microsoft.com/office/powerpoint/2010/main" val="1801418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brings us to our research question. What factors in this dataset have an impact on the success of the episode, in terms of viewership? Is it the characters in the episodes, is it the creatives involved in making the episode, are there spikes in popularity based on the time period or season? There’s so many things that could impact the success of these episodes, so we’re going to look into the formula that has created success for this show over the last 26 years.</a:t>
            </a:r>
          </a:p>
        </p:txBody>
      </p:sp>
      <p:sp>
        <p:nvSpPr>
          <p:cNvPr id="4" name="Slide Number Placeholder 3"/>
          <p:cNvSpPr>
            <a:spLocks noGrp="1"/>
          </p:cNvSpPr>
          <p:nvPr>
            <p:ph type="sldNum" sz="quarter" idx="5"/>
          </p:nvPr>
        </p:nvSpPr>
        <p:spPr/>
        <p:txBody>
          <a:bodyPr/>
          <a:lstStyle/>
          <a:p>
            <a:fld id="{502302E6-0866-4B79-9408-80A4EB564126}" type="slidenum">
              <a:rPr lang="en-US" smtClean="0"/>
              <a:t>5</a:t>
            </a:fld>
            <a:endParaRPr lang="en-US"/>
          </a:p>
        </p:txBody>
      </p:sp>
    </p:spTree>
    <p:extLst>
      <p:ext uri="{BB962C8B-B14F-4D97-AF65-F5344CB8AC3E}">
        <p14:creationId xmlns:p14="http://schemas.microsoft.com/office/powerpoint/2010/main" val="3609248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we’ll start very surface level with the simplest question: when was the series most popular? How has its popularity changed over time?</a:t>
            </a:r>
          </a:p>
          <a:p>
            <a:r>
              <a:rPr lang="en-US" dirty="0"/>
              <a:t>If you consider the plot on the left, you can see that as the episode # increases, so does viewership up until around episode 125, and it then consistently decreases from then on. There are some insanely good, iconic episodes that exist as outliers and drew up the average viewership for their season, but those become sparser as time progresses and cease to exist entirely by episode 200. So the show peaks in popularity around season 7, and significantly drops off from there. Now what causes this to happen?</a:t>
            </a:r>
          </a:p>
        </p:txBody>
      </p:sp>
      <p:sp>
        <p:nvSpPr>
          <p:cNvPr id="4" name="Slide Number Placeholder 3"/>
          <p:cNvSpPr>
            <a:spLocks noGrp="1"/>
          </p:cNvSpPr>
          <p:nvPr>
            <p:ph type="sldNum" sz="quarter" idx="5"/>
          </p:nvPr>
        </p:nvSpPr>
        <p:spPr/>
        <p:txBody>
          <a:bodyPr/>
          <a:lstStyle/>
          <a:p>
            <a:fld id="{502302E6-0866-4B79-9408-80A4EB564126}" type="slidenum">
              <a:rPr lang="en-US" smtClean="0"/>
              <a:t>6</a:t>
            </a:fld>
            <a:endParaRPr lang="en-US"/>
          </a:p>
        </p:txBody>
      </p:sp>
    </p:spTree>
    <p:extLst>
      <p:ext uri="{BB962C8B-B14F-4D97-AF65-F5344CB8AC3E}">
        <p14:creationId xmlns:p14="http://schemas.microsoft.com/office/powerpoint/2010/main" val="2649848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D760-277A-0504-825E-483E445D8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5AA3F-AEB2-8DE2-51BA-2A6CB30B7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2FD1B6-7167-55DD-72D5-0F6B42C7D0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answer lies in the creative minds behind the show. The graphs on the page explore the change in producers, animators, and writers of the show. As you can see, there’s a large separation between the blue variable, creatives who started in seasons 1-7, and the orange column, creatives that started in seasons 8-14. In all of these categories, the creatives of the earlier seasons found more success and higher viewer counts upon their episode’s premiere. These variables appear to be significantly correlated, which tells us the creatives behind </a:t>
            </a:r>
            <a:r>
              <a:rPr lang="en-US" dirty="0" err="1"/>
              <a:t>spongebob</a:t>
            </a:r>
            <a:r>
              <a:rPr lang="en-US" dirty="0"/>
              <a:t> likely have a significant impact on the series’ success.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going to explore four different variables, and how they impact the viewership of this show, starting with the animator. This plot demonstrates the contrast between the long-time animators who were with the show from the beginning and stayed for the majority of the show, and the newer animators that started around/after the time of the show’s decline.  You can see in this graph that the newer animators don’t have very successful episodes whatsoever, while the older animators have a wide variety of successes and failures, centered around 3-4 million views per episode. Their range is larger, but</a:t>
            </a:r>
          </a:p>
          <a:p>
            <a:endParaRPr lang="en-US" dirty="0"/>
          </a:p>
          <a:p>
            <a:endParaRPr lang="en-US" dirty="0"/>
          </a:p>
          <a:p>
            <a:endParaRPr lang="en-US" dirty="0"/>
          </a:p>
          <a:p>
            <a:r>
              <a:rPr lang="en-US" dirty="0"/>
              <a:t>We’re going to explore four different variables, and how they impact the viewership of this show, starting with the animator. This plot demonstrates the contrast between the long-time animators who were with the show from the beginning and stayed for the majority of the show, and the newer animators that started around/after the time of the show’s decline.  You can see in this graph that the newer animators don’t have very successful episodes whatsoever, while the older animators have a wide variety of successes and failures, centered around 3-4 million views per episode. Their range is larger, but</a:t>
            </a:r>
          </a:p>
        </p:txBody>
      </p:sp>
      <p:sp>
        <p:nvSpPr>
          <p:cNvPr id="4" name="Slide Number Placeholder 3">
            <a:extLst>
              <a:ext uri="{FF2B5EF4-FFF2-40B4-BE49-F238E27FC236}">
                <a16:creationId xmlns:a16="http://schemas.microsoft.com/office/drawing/2014/main" id="{9C8FCBFE-795C-EBA1-83E4-4C2210DECE3F}"/>
              </a:ext>
            </a:extLst>
          </p:cNvPr>
          <p:cNvSpPr>
            <a:spLocks noGrp="1"/>
          </p:cNvSpPr>
          <p:nvPr>
            <p:ph type="sldNum" sz="quarter" idx="5"/>
          </p:nvPr>
        </p:nvSpPr>
        <p:spPr/>
        <p:txBody>
          <a:bodyPr/>
          <a:lstStyle/>
          <a:p>
            <a:fld id="{502302E6-0866-4B79-9408-80A4EB564126}" type="slidenum">
              <a:rPr lang="en-US" smtClean="0"/>
              <a:t>7</a:t>
            </a:fld>
            <a:endParaRPr lang="en-US"/>
          </a:p>
        </p:txBody>
      </p:sp>
    </p:spTree>
    <p:extLst>
      <p:ext uri="{BB962C8B-B14F-4D97-AF65-F5344CB8AC3E}">
        <p14:creationId xmlns:p14="http://schemas.microsoft.com/office/powerpoint/2010/main" val="2720112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characters in the show, however, do not appear to have a significant impact on the viewership of the show. This plot shows us that some characters (like SpongeBob) appear more frequently in the series, but each of these density curves have a similar shape and are centered around the same point, meaning the viewership doesn’t deviate much with the appearance or disappearance of a character.</a:t>
            </a:r>
          </a:p>
        </p:txBody>
      </p:sp>
      <p:sp>
        <p:nvSpPr>
          <p:cNvPr id="4" name="Slide Number Placeholder 3"/>
          <p:cNvSpPr>
            <a:spLocks noGrp="1"/>
          </p:cNvSpPr>
          <p:nvPr>
            <p:ph type="sldNum" sz="quarter" idx="5"/>
          </p:nvPr>
        </p:nvSpPr>
        <p:spPr/>
        <p:txBody>
          <a:bodyPr/>
          <a:lstStyle/>
          <a:p>
            <a:fld id="{502302E6-0866-4B79-9408-80A4EB564126}" type="slidenum">
              <a:rPr lang="en-US" smtClean="0"/>
              <a:t>8</a:t>
            </a:fld>
            <a:endParaRPr lang="en-US"/>
          </a:p>
        </p:txBody>
      </p:sp>
    </p:spTree>
    <p:extLst>
      <p:ext uri="{BB962C8B-B14F-4D97-AF65-F5344CB8AC3E}">
        <p14:creationId xmlns:p14="http://schemas.microsoft.com/office/powerpoint/2010/main" val="1514192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these variables do influence one another! Or maybe</a:t>
            </a:r>
          </a:p>
          <a:p>
            <a:r>
              <a:rPr lang="en-US" dirty="0"/>
              <a:t>Maybe inevitable decline like every good show must</a:t>
            </a:r>
          </a:p>
        </p:txBody>
      </p:sp>
      <p:sp>
        <p:nvSpPr>
          <p:cNvPr id="4" name="Slide Number Placeholder 3"/>
          <p:cNvSpPr>
            <a:spLocks noGrp="1"/>
          </p:cNvSpPr>
          <p:nvPr>
            <p:ph type="sldNum" sz="quarter" idx="5"/>
          </p:nvPr>
        </p:nvSpPr>
        <p:spPr/>
        <p:txBody>
          <a:bodyPr/>
          <a:lstStyle/>
          <a:p>
            <a:fld id="{502302E6-0866-4B79-9408-80A4EB564126}" type="slidenum">
              <a:rPr lang="en-US" smtClean="0"/>
              <a:t>9</a:t>
            </a:fld>
            <a:endParaRPr lang="en-US"/>
          </a:p>
        </p:txBody>
      </p:sp>
    </p:spTree>
    <p:extLst>
      <p:ext uri="{BB962C8B-B14F-4D97-AF65-F5344CB8AC3E}">
        <p14:creationId xmlns:p14="http://schemas.microsoft.com/office/powerpoint/2010/main" val="119035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8732-C63A-A408-3C16-B9406AA55C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2D30DD-A3E6-45EA-E50E-505B2C8975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A8E67F-84A8-C366-9149-99D21BA7E994}"/>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5" name="Footer Placeholder 4">
            <a:extLst>
              <a:ext uri="{FF2B5EF4-FFF2-40B4-BE49-F238E27FC236}">
                <a16:creationId xmlns:a16="http://schemas.microsoft.com/office/drawing/2014/main" id="{76AAAAE5-963B-D230-63C4-9BCF0EF99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B24F79-9766-76F1-D52A-A52B22D3D0AF}"/>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3161199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B610C-EA7C-47A4-A828-AEC6B7C62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ACE222-2AF5-FF3E-D264-588DA7F82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47EC5D-DF41-1C39-B589-1F6835ED2C60}"/>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5" name="Footer Placeholder 4">
            <a:extLst>
              <a:ext uri="{FF2B5EF4-FFF2-40B4-BE49-F238E27FC236}">
                <a16:creationId xmlns:a16="http://schemas.microsoft.com/office/drawing/2014/main" id="{BAAAEA15-89A8-80FC-2EC3-1B4DA6D9E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1B2C8-5827-E21A-AC30-CD53F1FA2B6E}"/>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3234784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F9F1C-241B-4CC0-B88D-94E66462B6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52A568-BBDC-5CF4-9ACD-A67521B436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A6F0DF-40F8-8F88-E03C-E77B6CD52DD0}"/>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5" name="Footer Placeholder 4">
            <a:extLst>
              <a:ext uri="{FF2B5EF4-FFF2-40B4-BE49-F238E27FC236}">
                <a16:creationId xmlns:a16="http://schemas.microsoft.com/office/drawing/2014/main" id="{B1427CCB-63E7-C604-D2A1-BF4A1E8A3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65016C-19EA-7BC1-AD08-F91DE38D8660}"/>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94395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06C2-3514-4CB6-06C6-24E2F5FEF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7C5F56-A1EC-9EC3-5FFF-CC210B4E6F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B9062C-463C-6276-FDE3-A6FD1664CC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AC2F7C-AB43-FD0A-B314-8270140A1E35}"/>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6" name="Footer Placeholder 5">
            <a:extLst>
              <a:ext uri="{FF2B5EF4-FFF2-40B4-BE49-F238E27FC236}">
                <a16:creationId xmlns:a16="http://schemas.microsoft.com/office/drawing/2014/main" id="{D09A1E4E-9033-7FAD-FB9B-8989B88720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03EFC4-D015-2118-70C4-C154F769D066}"/>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3194810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A7ED-E2DF-6924-6F80-FB1031CC66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67232-A897-121E-16C9-F82198AF4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87355A-48E3-4DA9-60A9-307BC5145A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4F6E8C-A853-283A-6E4F-F61E868285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9A44E2-A2AB-8C2E-61C5-959022EAC9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5CB1F7-0A95-148B-0E35-3B52A3A4BE73}"/>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8" name="Footer Placeholder 7">
            <a:extLst>
              <a:ext uri="{FF2B5EF4-FFF2-40B4-BE49-F238E27FC236}">
                <a16:creationId xmlns:a16="http://schemas.microsoft.com/office/drawing/2014/main" id="{EA1ED1CA-7C44-F145-EFE9-3D48B7BE8A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81DE31-15FE-18B3-3026-646DCA7F3716}"/>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3544178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BF53-2FDE-CBC3-BE89-3E0BD9A10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917CDA-BAF5-1600-426D-3CE43B6E1130}"/>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4" name="Footer Placeholder 3">
            <a:extLst>
              <a:ext uri="{FF2B5EF4-FFF2-40B4-BE49-F238E27FC236}">
                <a16:creationId xmlns:a16="http://schemas.microsoft.com/office/drawing/2014/main" id="{8AA7CD03-2F75-E561-05E6-A3FEEF625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EA7214-053B-C4AF-A39D-AA7733EB421F}"/>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1740767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4457BD-CE41-6893-88E1-C00807C92957}"/>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3" name="Footer Placeholder 2">
            <a:extLst>
              <a:ext uri="{FF2B5EF4-FFF2-40B4-BE49-F238E27FC236}">
                <a16:creationId xmlns:a16="http://schemas.microsoft.com/office/drawing/2014/main" id="{A1AEAC89-91EF-7E35-D18C-12DF212DB9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F693B7-7968-9FD2-3DD4-C0118CDCFF50}"/>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3842868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BE38-B1A7-AE75-3DB7-AD7EF31A71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678F97-F633-5B3A-5D7C-B89DA61078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085CE3-4AE0-BC5A-B843-1D3FDC1F3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D7BF2F-B05B-8BC1-4F5C-7C930B581985}"/>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6" name="Footer Placeholder 5">
            <a:extLst>
              <a:ext uri="{FF2B5EF4-FFF2-40B4-BE49-F238E27FC236}">
                <a16:creationId xmlns:a16="http://schemas.microsoft.com/office/drawing/2014/main" id="{E61491A2-1726-8D36-C82C-E6BF1C467B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F0D410-5521-9F6A-8430-DF5BBCED70C9}"/>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3385163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97C79-5577-AF5D-B53E-5EC277B8FC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C07E5B-77F4-6DC0-B2F7-688E42E82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21D4E5-9C90-A4F4-EDDF-D3ED1FC99F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E0D3FC-57D5-D8C4-2CF2-9B960E263017}"/>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6" name="Footer Placeholder 5">
            <a:extLst>
              <a:ext uri="{FF2B5EF4-FFF2-40B4-BE49-F238E27FC236}">
                <a16:creationId xmlns:a16="http://schemas.microsoft.com/office/drawing/2014/main" id="{80A49E6B-6C54-3BE8-1E1C-46E6B26BD4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A3E146-7A41-BAFC-80E4-D2431D1607FF}"/>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2073221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B9527-0F55-AAE2-658A-CB21D7FBEC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8575EF-F30F-7D7C-539E-B58153668D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0B3A56-5649-9823-33DA-EF23B8A763C5}"/>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5" name="Footer Placeholder 4">
            <a:extLst>
              <a:ext uri="{FF2B5EF4-FFF2-40B4-BE49-F238E27FC236}">
                <a16:creationId xmlns:a16="http://schemas.microsoft.com/office/drawing/2014/main" id="{DBE12CC3-AA74-74E9-9B12-1E46FAFF8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7658C-02DA-FCFB-75D7-CEC8AA3464FD}"/>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2564219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5CD0FD-E971-4830-B07E-C467C9A787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CA0D4B-3C30-5960-757B-2413146A0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C4D4E0-8A18-21C8-9273-5D9618414F35}"/>
              </a:ext>
            </a:extLst>
          </p:cNvPr>
          <p:cNvSpPr>
            <a:spLocks noGrp="1"/>
          </p:cNvSpPr>
          <p:nvPr>
            <p:ph type="dt" sz="half" idx="10"/>
          </p:nvPr>
        </p:nvSpPr>
        <p:spPr/>
        <p:txBody>
          <a:bodyPr/>
          <a:lstStyle/>
          <a:p>
            <a:fld id="{7A533DA6-6198-4D32-8F44-2B3204106979}" type="datetimeFigureOut">
              <a:rPr lang="en-US" smtClean="0"/>
              <a:t>3/3/2025</a:t>
            </a:fld>
            <a:endParaRPr lang="en-US"/>
          </a:p>
        </p:txBody>
      </p:sp>
      <p:sp>
        <p:nvSpPr>
          <p:cNvPr id="5" name="Footer Placeholder 4">
            <a:extLst>
              <a:ext uri="{FF2B5EF4-FFF2-40B4-BE49-F238E27FC236}">
                <a16:creationId xmlns:a16="http://schemas.microsoft.com/office/drawing/2014/main" id="{88D7E7FB-911C-711C-D542-686F33F10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93A3C-E604-7705-8C70-5D10A43B93BC}"/>
              </a:ext>
            </a:extLst>
          </p:cNvPr>
          <p:cNvSpPr>
            <a:spLocks noGrp="1"/>
          </p:cNvSpPr>
          <p:nvPr>
            <p:ph type="sldNum" sz="quarter" idx="12"/>
          </p:nvPr>
        </p:nvSpPr>
        <p:spPr/>
        <p:txBody>
          <a:bodyPr/>
          <a:lstStyle/>
          <a:p>
            <a:fld id="{EBAC7940-30CE-474D-ADD6-4B48B49D5AF7}" type="slidenum">
              <a:rPr lang="en-US" smtClean="0"/>
              <a:t>‹#›</a:t>
            </a:fld>
            <a:endParaRPr lang="en-US"/>
          </a:p>
        </p:txBody>
      </p:sp>
    </p:spTree>
    <p:extLst>
      <p:ext uri="{BB962C8B-B14F-4D97-AF65-F5344CB8AC3E}">
        <p14:creationId xmlns:p14="http://schemas.microsoft.com/office/powerpoint/2010/main" val="1817495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5CDA3-3B3F-4446-45B7-EFD441DAF4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749E27-AF32-EC99-2C6A-7EB45B6680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0A5D4-FB85-7AC2-5A17-9A28B45044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533DA6-6198-4D32-8F44-2B3204106979}" type="datetimeFigureOut">
              <a:rPr lang="en-US" smtClean="0"/>
              <a:t>3/3/2025</a:t>
            </a:fld>
            <a:endParaRPr lang="en-US"/>
          </a:p>
        </p:txBody>
      </p:sp>
      <p:sp>
        <p:nvSpPr>
          <p:cNvPr id="5" name="Footer Placeholder 4">
            <a:extLst>
              <a:ext uri="{FF2B5EF4-FFF2-40B4-BE49-F238E27FC236}">
                <a16:creationId xmlns:a16="http://schemas.microsoft.com/office/drawing/2014/main" id="{11CB922C-3D5D-6061-7D22-45CFCFBA22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7D592B-0F05-A0F9-4B1E-105D63C467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AC7940-30CE-474D-ADD6-4B48B49D5AF7}" type="slidenum">
              <a:rPr lang="en-US" smtClean="0"/>
              <a:t>‹#›</a:t>
            </a:fld>
            <a:endParaRPr lang="en-US"/>
          </a:p>
        </p:txBody>
      </p:sp>
    </p:spTree>
    <p:extLst>
      <p:ext uri="{BB962C8B-B14F-4D97-AF65-F5344CB8AC3E}">
        <p14:creationId xmlns:p14="http://schemas.microsoft.com/office/powerpoint/2010/main" val="3791430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datasets/myticalcat/spongebob-squarepants-episodes-dataset?resource=downloa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46E5BEA-09C9-16D6-1B85-7D6025D696CA}"/>
              </a:ext>
            </a:extLst>
          </p:cNvPr>
          <p:cNvSpPr>
            <a:spLocks noGrp="1"/>
          </p:cNvSpPr>
          <p:nvPr>
            <p:ph type="subTitle" idx="1"/>
          </p:nvPr>
        </p:nvSpPr>
        <p:spPr>
          <a:xfrm>
            <a:off x="5268067" y="3843906"/>
            <a:ext cx="6532049" cy="2387601"/>
          </a:xfrm>
        </p:spPr>
        <p:txBody>
          <a:bodyPr>
            <a:normAutofit/>
          </a:bodyPr>
          <a:lstStyle/>
          <a:p>
            <a:pPr algn="l">
              <a:lnSpc>
                <a:spcPct val="150000"/>
              </a:lnSpc>
            </a:pPr>
            <a:r>
              <a:rPr lang="en-US" sz="3200" dirty="0">
                <a:latin typeface="Spongeboy" pitchFamily="50" charset="0"/>
              </a:rPr>
              <a:t>A Deep Dive into the Nautical Nonsense of SpongeBob Viewership</a:t>
            </a:r>
          </a:p>
        </p:txBody>
      </p:sp>
      <p:pic>
        <p:nvPicPr>
          <p:cNvPr id="1040" name="Picture 16" descr="SpongeBob PNG Transparent Images">
            <a:extLst>
              <a:ext uri="{FF2B5EF4-FFF2-40B4-BE49-F238E27FC236}">
                <a16:creationId xmlns:a16="http://schemas.microsoft.com/office/drawing/2014/main" id="{20FCBD15-755E-DAEF-2606-49AE18389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472" y="1931354"/>
            <a:ext cx="4167127" cy="4944243"/>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7CDF90CD-6B25-88B7-9D73-A6FE2C5384B3}"/>
              </a:ext>
            </a:extLst>
          </p:cNvPr>
          <p:cNvSpPr txBox="1">
            <a:spLocks/>
          </p:cNvSpPr>
          <p:nvPr/>
        </p:nvSpPr>
        <p:spPr>
          <a:xfrm>
            <a:off x="1404832" y="1622225"/>
            <a:ext cx="10395284" cy="150810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lnSpc>
                <a:spcPct val="100000"/>
              </a:lnSpc>
            </a:pPr>
            <a:r>
              <a:rPr lang="en-US" sz="8000" dirty="0">
                <a:latin typeface="Spongebob 3D" panose="02000600000000000000" pitchFamily="2" charset="0"/>
              </a:rPr>
              <a:t>Episodes Dataset</a:t>
            </a:r>
          </a:p>
        </p:txBody>
      </p:sp>
      <p:sp>
        <p:nvSpPr>
          <p:cNvPr id="10" name="TextBox 9">
            <a:extLst>
              <a:ext uri="{FF2B5EF4-FFF2-40B4-BE49-F238E27FC236}">
                <a16:creationId xmlns:a16="http://schemas.microsoft.com/office/drawing/2014/main" id="{8DEBDBF4-023D-3FF7-7500-05EC6ABA1EEA}"/>
              </a:ext>
            </a:extLst>
          </p:cNvPr>
          <p:cNvSpPr txBox="1"/>
          <p:nvPr/>
        </p:nvSpPr>
        <p:spPr>
          <a:xfrm>
            <a:off x="550015" y="290286"/>
            <a:ext cx="11293643" cy="1508105"/>
          </a:xfrm>
          <a:prstGeom prst="rect">
            <a:avLst/>
          </a:prstGeom>
          <a:noFill/>
        </p:spPr>
        <p:txBody>
          <a:bodyPr wrap="square">
            <a:spAutoFit/>
          </a:bodyPr>
          <a:lstStyle/>
          <a:p>
            <a:r>
              <a:rPr lang="en-US" sz="9200" dirty="0">
                <a:latin typeface="Spongebob 3D" panose="02000600000000000000" pitchFamily="2" charset="0"/>
              </a:rPr>
              <a:t>SpongeBob SquarePants </a:t>
            </a:r>
            <a:endParaRPr lang="en-US" sz="9200" dirty="0"/>
          </a:p>
        </p:txBody>
      </p:sp>
    </p:spTree>
    <p:extLst>
      <p:ext uri="{BB962C8B-B14F-4D97-AF65-F5344CB8AC3E}">
        <p14:creationId xmlns:p14="http://schemas.microsoft.com/office/powerpoint/2010/main" val="2848379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5B38D-254A-8CBA-CA6D-CCC55CF27145}"/>
              </a:ext>
            </a:extLst>
          </p:cNvPr>
          <p:cNvSpPr>
            <a:spLocks noGrp="1"/>
          </p:cNvSpPr>
          <p:nvPr>
            <p:ph type="title"/>
          </p:nvPr>
        </p:nvSpPr>
        <p:spPr/>
        <p:txBody>
          <a:bodyPr/>
          <a:lstStyle/>
          <a:p>
            <a:r>
              <a:rPr lang="en-US" dirty="0">
                <a:latin typeface="Spongeboy" pitchFamily="50" charset="0"/>
              </a:rPr>
              <a:t>Introduction and Summary</a:t>
            </a:r>
          </a:p>
        </p:txBody>
      </p:sp>
      <p:sp>
        <p:nvSpPr>
          <p:cNvPr id="3" name="Content Placeholder 2">
            <a:extLst>
              <a:ext uri="{FF2B5EF4-FFF2-40B4-BE49-F238E27FC236}">
                <a16:creationId xmlns:a16="http://schemas.microsoft.com/office/drawing/2014/main" id="{18E3DB1D-5751-8D64-90B0-8FFA7AD4AE74}"/>
              </a:ext>
            </a:extLst>
          </p:cNvPr>
          <p:cNvSpPr>
            <a:spLocks noGrp="1"/>
          </p:cNvSpPr>
          <p:nvPr>
            <p:ph idx="1"/>
          </p:nvPr>
        </p:nvSpPr>
        <p:spPr>
          <a:xfrm>
            <a:off x="838200" y="1825625"/>
            <a:ext cx="6650213" cy="4351338"/>
          </a:xfrm>
        </p:spPr>
        <p:txBody>
          <a:bodyPr>
            <a:normAutofit/>
          </a:bodyPr>
          <a:lstStyle/>
          <a:p>
            <a:pPr marL="0" indent="0">
              <a:buNone/>
            </a:pPr>
            <a:r>
              <a:rPr lang="en-US" dirty="0">
                <a:latin typeface="Blob Spongey Lowercase" panose="02000503000000000000" pitchFamily="2" charset="0"/>
              </a:rPr>
              <a:t>Detailed information about the episodes in seasons 1-14 of SpongeBob SquarePants</a:t>
            </a:r>
            <a:endParaRPr lang="en-US" b="0" i="0" dirty="0">
              <a:effectLst/>
              <a:latin typeface="Blob Spongey Lowercase" panose="02000503000000000000" pitchFamily="2" charset="0"/>
            </a:endParaRPr>
          </a:p>
          <a:p>
            <a:pPr marL="0" indent="0">
              <a:buNone/>
            </a:pPr>
            <a:endParaRPr lang="en-US" dirty="0">
              <a:latin typeface="Blob Spongey Lowercase" panose="02000503000000000000" pitchFamily="2" charset="0"/>
            </a:endParaRPr>
          </a:p>
          <a:p>
            <a:pPr marL="0" indent="0">
              <a:buNone/>
            </a:pPr>
            <a:r>
              <a:rPr lang="en-US" dirty="0">
                <a:latin typeface="Blob Spongey Lowercase" panose="02000503000000000000" pitchFamily="2" charset="0"/>
              </a:rPr>
              <a:t>Dataset from Kaggle:</a:t>
            </a:r>
          </a:p>
          <a:p>
            <a:pPr marL="0" indent="0">
              <a:buNone/>
            </a:pPr>
            <a:r>
              <a:rPr lang="en-US" dirty="0">
                <a:latin typeface="Blob Spongey Lowercase" panose="02000503000000000000" pitchFamily="2" charset="0"/>
                <a:hlinkClick r:id="rId2"/>
              </a:rPr>
              <a:t>https://www.kaggle.com/datasets/myticalcat/spongebob-squarepants-episodes-dataset?resource=download</a:t>
            </a:r>
            <a:endParaRPr lang="en-US" dirty="0">
              <a:latin typeface="Blob Spongey Lowercase" panose="02000503000000000000" pitchFamily="2" charset="0"/>
            </a:endParaRPr>
          </a:p>
        </p:txBody>
      </p:sp>
      <p:pic>
        <p:nvPicPr>
          <p:cNvPr id="15362" name="Picture 2">
            <a:extLst>
              <a:ext uri="{FF2B5EF4-FFF2-40B4-BE49-F238E27FC236}">
                <a16:creationId xmlns:a16="http://schemas.microsoft.com/office/drawing/2014/main" id="{6D882BA5-D967-41CC-5444-8E2368A1E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413" y="1151291"/>
            <a:ext cx="3766608" cy="5518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1646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EC1C6-ED66-8897-C522-7D62E929AFF8}"/>
              </a:ext>
            </a:extLst>
          </p:cNvPr>
          <p:cNvSpPr>
            <a:spLocks noGrp="1"/>
          </p:cNvSpPr>
          <p:nvPr>
            <p:ph type="title"/>
          </p:nvPr>
        </p:nvSpPr>
        <p:spPr/>
        <p:txBody>
          <a:bodyPr/>
          <a:lstStyle/>
          <a:p>
            <a:r>
              <a:rPr lang="en-US" dirty="0">
                <a:solidFill>
                  <a:schemeClr val="tx2"/>
                </a:solidFill>
                <a:latin typeface="Spongeboy" pitchFamily="50" charset="0"/>
              </a:rPr>
              <a:t>25 total columns, 7 utilized</a:t>
            </a:r>
          </a:p>
        </p:txBody>
      </p:sp>
      <p:sp>
        <p:nvSpPr>
          <p:cNvPr id="3" name="Content Placeholder 2">
            <a:extLst>
              <a:ext uri="{FF2B5EF4-FFF2-40B4-BE49-F238E27FC236}">
                <a16:creationId xmlns:a16="http://schemas.microsoft.com/office/drawing/2014/main" id="{B4B813D0-5E21-9954-B54E-7E2336704DA6}"/>
              </a:ext>
            </a:extLst>
          </p:cNvPr>
          <p:cNvSpPr>
            <a:spLocks noGrp="1"/>
          </p:cNvSpPr>
          <p:nvPr>
            <p:ph idx="1"/>
          </p:nvPr>
        </p:nvSpPr>
        <p:spPr/>
        <p:txBody>
          <a:bodyPr>
            <a:normAutofit/>
          </a:bodyPr>
          <a:lstStyle/>
          <a:p>
            <a:pPr marL="0" indent="0">
              <a:buNone/>
            </a:pPr>
            <a:r>
              <a:rPr lang="en-US" b="0" i="0" dirty="0">
                <a:solidFill>
                  <a:srgbClr val="CCCCCC"/>
                </a:solidFill>
                <a:effectLst/>
                <a:latin typeface="Consolas" panose="020B0609020204030204" pitchFamily="49" charset="0"/>
              </a:rPr>
              <a:t>'Airdate', </a:t>
            </a:r>
            <a:r>
              <a:rPr lang="en-US" b="0" i="0" dirty="0">
                <a:solidFill>
                  <a:srgbClr val="0070C0"/>
                </a:solidFill>
                <a:effectLst/>
                <a:latin typeface="Consolas" panose="020B0609020204030204" pitchFamily="49" charset="0"/>
              </a:rPr>
              <a:t>'Animation'</a:t>
            </a:r>
            <a:r>
              <a:rPr lang="en-US" b="0" i="0" dirty="0">
                <a:solidFill>
                  <a:srgbClr val="CCCCCC"/>
                </a:solidFill>
                <a:effectLst/>
                <a:latin typeface="Consolas" panose="020B0609020204030204" pitchFamily="49" charset="0"/>
              </a:rPr>
              <a:t>, 'Animation Supervisor', 'Copyright year', 'Creative', </a:t>
            </a:r>
            <a:r>
              <a:rPr lang="en-US" b="0" i="0" dirty="0">
                <a:solidFill>
                  <a:srgbClr val="0070C0"/>
                </a:solidFill>
                <a:effectLst/>
                <a:latin typeface="Consolas" panose="020B0609020204030204" pitchFamily="49" charset="0"/>
              </a:rPr>
              <a:t>'Episode №'</a:t>
            </a:r>
            <a:r>
              <a:rPr lang="en-US" b="0" i="0" dirty="0">
                <a:solidFill>
                  <a:srgbClr val="CCCCCC"/>
                </a:solidFill>
                <a:effectLst/>
                <a:latin typeface="Consolas" panose="020B0609020204030204" pitchFamily="49" charset="0"/>
              </a:rPr>
              <a:t>, 'Guest(s)', 'Line Producer', 'Main', 'Next', 'Previous', 'Production code', 'Running time', </a:t>
            </a:r>
            <a:r>
              <a:rPr lang="en-US" b="0" i="0" dirty="0">
                <a:solidFill>
                  <a:srgbClr val="0070C0"/>
                </a:solidFill>
                <a:effectLst/>
                <a:latin typeface="Consolas" panose="020B0609020204030204" pitchFamily="49" charset="0"/>
              </a:rPr>
              <a:t>'Season №'</a:t>
            </a:r>
            <a:r>
              <a:rPr lang="en-US" b="0" i="0" dirty="0">
                <a:solidFill>
                  <a:srgbClr val="CCCCCC"/>
                </a:solidFill>
                <a:effectLst/>
                <a:latin typeface="Consolas" panose="020B0609020204030204" pitchFamily="49" charset="0"/>
              </a:rPr>
              <a:t>, 'Sister episode(s)', 'Storyboard', 'Storyboard Artist(s)', 'Supervising', </a:t>
            </a:r>
            <a:r>
              <a:rPr lang="en-US" b="0" i="0" dirty="0">
                <a:solidFill>
                  <a:srgbClr val="0070C0"/>
                </a:solidFill>
                <a:effectLst/>
                <a:latin typeface="Consolas" panose="020B0609020204030204" pitchFamily="49" charset="0"/>
              </a:rPr>
              <a:t>'Supervising Producer(s)'</a:t>
            </a:r>
            <a:r>
              <a:rPr lang="en-US" b="0" i="0" dirty="0">
                <a:solidFill>
                  <a:srgbClr val="CCCCCC"/>
                </a:solidFill>
                <a:effectLst/>
                <a:latin typeface="Consolas" panose="020B0609020204030204" pitchFamily="49" charset="0"/>
              </a:rPr>
              <a:t>, 'Technical', 'U.S. premiere time (ET)', </a:t>
            </a:r>
            <a:r>
              <a:rPr lang="en-US" b="0" i="0" dirty="0">
                <a:solidFill>
                  <a:srgbClr val="0070C0"/>
                </a:solidFill>
                <a:effectLst/>
                <a:latin typeface="Consolas" panose="020B0609020204030204" pitchFamily="49" charset="0"/>
              </a:rPr>
              <a:t>'U.S. viewers (millions)'</a:t>
            </a:r>
            <a:r>
              <a:rPr lang="en-US" b="0" i="0" dirty="0">
                <a:solidFill>
                  <a:srgbClr val="CCCCCC"/>
                </a:solidFill>
                <a:effectLst/>
                <a:latin typeface="Consolas" panose="020B0609020204030204" pitchFamily="49" charset="0"/>
              </a:rPr>
              <a:t>, </a:t>
            </a:r>
            <a:r>
              <a:rPr lang="en-US" b="0" i="0" dirty="0">
                <a:solidFill>
                  <a:srgbClr val="0070C0"/>
                </a:solidFill>
                <a:effectLst/>
                <a:latin typeface="Consolas" panose="020B0609020204030204" pitchFamily="49" charset="0"/>
              </a:rPr>
              <a:t>'Writer(s)'</a:t>
            </a:r>
            <a:r>
              <a:rPr lang="en-US" b="0" i="0" dirty="0">
                <a:solidFill>
                  <a:srgbClr val="CCCCCC"/>
                </a:solidFill>
                <a:effectLst/>
                <a:latin typeface="Consolas" panose="020B0609020204030204" pitchFamily="49" charset="0"/>
              </a:rPr>
              <a:t>, </a:t>
            </a:r>
            <a:r>
              <a:rPr lang="en-US" b="0" i="0" dirty="0">
                <a:solidFill>
                  <a:srgbClr val="0070C0"/>
                </a:solidFill>
                <a:effectLst/>
                <a:latin typeface="Consolas" panose="020B0609020204030204" pitchFamily="49" charset="0"/>
              </a:rPr>
              <a:t>'characters'</a:t>
            </a:r>
            <a:r>
              <a:rPr lang="en-US" b="0" i="0" dirty="0">
                <a:solidFill>
                  <a:srgbClr val="CCCCCC"/>
                </a:solidFill>
                <a:effectLst/>
                <a:latin typeface="Consolas" panose="020B0609020204030204" pitchFamily="49" charset="0"/>
              </a:rPr>
              <a:t>, 'title'</a:t>
            </a:r>
            <a:endParaRPr lang="en-US" dirty="0"/>
          </a:p>
        </p:txBody>
      </p:sp>
      <p:pic>
        <p:nvPicPr>
          <p:cNvPr id="4" name="Picture 2" descr="Doodlebob | VS Battles Wiki | Fandom">
            <a:extLst>
              <a:ext uri="{FF2B5EF4-FFF2-40B4-BE49-F238E27FC236}">
                <a16:creationId xmlns:a16="http://schemas.microsoft.com/office/drawing/2014/main" id="{76B5155B-7B91-4182-F043-2193EF5DC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6233" y="5167312"/>
            <a:ext cx="127589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705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A4EF4-25A9-3D02-AEA5-C3058CBFDC98}"/>
              </a:ext>
            </a:extLst>
          </p:cNvPr>
          <p:cNvSpPr>
            <a:spLocks noGrp="1"/>
          </p:cNvSpPr>
          <p:nvPr>
            <p:ph type="title"/>
          </p:nvPr>
        </p:nvSpPr>
        <p:spPr>
          <a:xfrm>
            <a:off x="518886" y="647246"/>
            <a:ext cx="4445000" cy="1325563"/>
          </a:xfrm>
        </p:spPr>
        <p:txBody>
          <a:bodyPr>
            <a:normAutofit/>
          </a:bodyPr>
          <a:lstStyle/>
          <a:p>
            <a:r>
              <a:rPr lang="en-US" sz="5400" dirty="0">
                <a:latin typeface="Spongeboy" pitchFamily="50" charset="0"/>
              </a:rPr>
              <a:t>The Big 7:</a:t>
            </a:r>
          </a:p>
        </p:txBody>
      </p:sp>
      <p:sp>
        <p:nvSpPr>
          <p:cNvPr id="3" name="Content Placeholder 2">
            <a:extLst>
              <a:ext uri="{FF2B5EF4-FFF2-40B4-BE49-F238E27FC236}">
                <a16:creationId xmlns:a16="http://schemas.microsoft.com/office/drawing/2014/main" id="{E082DE0C-8AA3-D479-8C7B-8DF3BCDE7E30}"/>
              </a:ext>
            </a:extLst>
          </p:cNvPr>
          <p:cNvSpPr>
            <a:spLocks noGrp="1"/>
          </p:cNvSpPr>
          <p:nvPr>
            <p:ph idx="1"/>
          </p:nvPr>
        </p:nvSpPr>
        <p:spPr>
          <a:xfrm>
            <a:off x="2899228" y="647246"/>
            <a:ext cx="8945880" cy="6043840"/>
          </a:xfrm>
        </p:spPr>
        <p:txBody>
          <a:bodyPr>
            <a:normAutofit/>
          </a:bodyPr>
          <a:lstStyle/>
          <a:p>
            <a:pPr marL="0" indent="0" algn="r">
              <a:buNone/>
            </a:pPr>
            <a:r>
              <a:rPr lang="en-US" sz="3600" b="0" i="0" dirty="0">
                <a:solidFill>
                  <a:schemeClr val="tx2"/>
                </a:solidFill>
                <a:effectLst/>
                <a:latin typeface="Consolas" panose="020B0609020204030204" pitchFamily="49" charset="0"/>
              </a:rPr>
              <a:t>Categorical Variables:</a:t>
            </a:r>
          </a:p>
          <a:p>
            <a:pPr marL="0" indent="0" algn="r">
              <a:buNone/>
            </a:pPr>
            <a:r>
              <a:rPr lang="en-US" sz="3600" b="0" i="0" dirty="0">
                <a:solidFill>
                  <a:srgbClr val="0070C0"/>
                </a:solidFill>
                <a:effectLst/>
                <a:latin typeface="Consolas" panose="020B0609020204030204" pitchFamily="49" charset="0"/>
              </a:rPr>
              <a:t>'Animation'</a:t>
            </a:r>
          </a:p>
          <a:p>
            <a:pPr marL="0" indent="0" algn="r">
              <a:buNone/>
            </a:pPr>
            <a:r>
              <a:rPr lang="en-US" sz="3600" b="0" i="0" dirty="0">
                <a:solidFill>
                  <a:srgbClr val="0070C0"/>
                </a:solidFill>
                <a:effectLst/>
                <a:latin typeface="Consolas" panose="020B0609020204030204" pitchFamily="49" charset="0"/>
              </a:rPr>
              <a:t>'Writer(s)'</a:t>
            </a:r>
          </a:p>
          <a:p>
            <a:pPr marL="0" indent="0" algn="r">
              <a:buNone/>
            </a:pPr>
            <a:r>
              <a:rPr lang="en-US" sz="3600" b="0" i="0" dirty="0">
                <a:solidFill>
                  <a:srgbClr val="0070C0"/>
                </a:solidFill>
                <a:effectLst/>
                <a:latin typeface="Consolas" panose="020B0609020204030204" pitchFamily="49" charset="0"/>
              </a:rPr>
              <a:t>'Supervising Producer(s)'</a:t>
            </a:r>
            <a:endParaRPr lang="en-US" sz="3600" dirty="0">
              <a:solidFill>
                <a:srgbClr val="CCCCCC"/>
              </a:solidFill>
              <a:latin typeface="Consolas" panose="020B0609020204030204" pitchFamily="49" charset="0"/>
            </a:endParaRPr>
          </a:p>
          <a:p>
            <a:pPr marL="0" indent="0" algn="r">
              <a:buNone/>
            </a:pPr>
            <a:r>
              <a:rPr lang="en-US" sz="3600" b="0" i="0" dirty="0">
                <a:solidFill>
                  <a:srgbClr val="0070C0"/>
                </a:solidFill>
                <a:effectLst/>
                <a:latin typeface="Consolas" panose="020B0609020204030204" pitchFamily="49" charset="0"/>
              </a:rPr>
              <a:t>'characters'</a:t>
            </a:r>
            <a:endParaRPr lang="en-US" sz="3600" b="0" i="0" dirty="0">
              <a:solidFill>
                <a:schemeClr val="tx2"/>
              </a:solidFill>
              <a:effectLst/>
              <a:latin typeface="Consolas" panose="020B0609020204030204" pitchFamily="49" charset="0"/>
            </a:endParaRPr>
          </a:p>
          <a:p>
            <a:pPr marL="0" indent="0" algn="r">
              <a:buNone/>
            </a:pPr>
            <a:r>
              <a:rPr lang="en-US" sz="3600" b="0" i="0" dirty="0">
                <a:solidFill>
                  <a:schemeClr val="tx2"/>
                </a:solidFill>
                <a:effectLst/>
                <a:latin typeface="Consolas" panose="020B0609020204030204" pitchFamily="49" charset="0"/>
              </a:rPr>
              <a:t>Numeric Variables:</a:t>
            </a:r>
          </a:p>
          <a:p>
            <a:pPr marL="0" indent="0" algn="r">
              <a:buNone/>
            </a:pPr>
            <a:r>
              <a:rPr lang="en-US" sz="3600" b="0" i="0" dirty="0">
                <a:solidFill>
                  <a:srgbClr val="0070C0"/>
                </a:solidFill>
                <a:effectLst/>
                <a:latin typeface="Consolas" panose="020B0609020204030204" pitchFamily="49" charset="0"/>
              </a:rPr>
              <a:t>'U.S. viewers (millions)'</a:t>
            </a:r>
          </a:p>
          <a:p>
            <a:pPr marL="0" indent="0" algn="r">
              <a:buNone/>
            </a:pPr>
            <a:r>
              <a:rPr lang="en-US" sz="3600" b="0" i="0" dirty="0">
                <a:solidFill>
                  <a:srgbClr val="0070C0"/>
                </a:solidFill>
                <a:effectLst/>
                <a:latin typeface="Consolas" panose="020B0609020204030204" pitchFamily="49" charset="0"/>
              </a:rPr>
              <a:t>'Episode №'</a:t>
            </a:r>
            <a:endParaRPr lang="en-US" sz="3600" b="0" i="0" dirty="0">
              <a:solidFill>
                <a:srgbClr val="CCCCCC"/>
              </a:solidFill>
              <a:effectLst/>
              <a:latin typeface="Consolas" panose="020B0609020204030204" pitchFamily="49" charset="0"/>
            </a:endParaRPr>
          </a:p>
          <a:p>
            <a:pPr marL="0" indent="0" algn="r">
              <a:buNone/>
            </a:pPr>
            <a:r>
              <a:rPr lang="en-US" sz="3600" b="0" i="0" dirty="0">
                <a:solidFill>
                  <a:srgbClr val="0070C0"/>
                </a:solidFill>
                <a:effectLst/>
                <a:latin typeface="Consolas" panose="020B0609020204030204" pitchFamily="49" charset="0"/>
              </a:rPr>
              <a:t>'Season №'</a:t>
            </a:r>
          </a:p>
          <a:p>
            <a:pPr marL="0" indent="0" algn="r">
              <a:buNone/>
            </a:pPr>
            <a:endParaRPr lang="en-US" sz="3600" dirty="0"/>
          </a:p>
        </p:txBody>
      </p:sp>
      <p:pic>
        <p:nvPicPr>
          <p:cNvPr id="6146" name="Picture 2" descr="Doodlebob | VS Battles Wiki | Fandom">
            <a:extLst>
              <a:ext uri="{FF2B5EF4-FFF2-40B4-BE49-F238E27FC236}">
                <a16:creationId xmlns:a16="http://schemas.microsoft.com/office/drawing/2014/main" id="{7C7F45A4-6B83-FE47-F847-5EDF644931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1974" y="718231"/>
            <a:ext cx="4289107" cy="4456080"/>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Spongebob_Thinking - Discord Emoji">
            <a:extLst>
              <a:ext uri="{FF2B5EF4-FFF2-40B4-BE49-F238E27FC236}">
                <a16:creationId xmlns:a16="http://schemas.microsoft.com/office/drawing/2014/main" id="{07C272E0-9736-238E-A5D0-49F8BB9AD5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60" y="1973943"/>
            <a:ext cx="6043840" cy="6043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252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2149B-6A74-8EB9-4917-102E3A47EC5D}"/>
              </a:ext>
            </a:extLst>
          </p:cNvPr>
          <p:cNvSpPr>
            <a:spLocks noGrp="1"/>
          </p:cNvSpPr>
          <p:nvPr>
            <p:ph type="title"/>
          </p:nvPr>
        </p:nvSpPr>
        <p:spPr/>
        <p:txBody>
          <a:bodyPr/>
          <a:lstStyle/>
          <a:p>
            <a:r>
              <a:rPr lang="en-US" dirty="0">
                <a:latin typeface="Spongeboy" pitchFamily="50" charset="0"/>
              </a:rPr>
              <a:t>Research Question</a:t>
            </a:r>
          </a:p>
        </p:txBody>
      </p:sp>
      <p:sp>
        <p:nvSpPr>
          <p:cNvPr id="3" name="Content Placeholder 2">
            <a:extLst>
              <a:ext uri="{FF2B5EF4-FFF2-40B4-BE49-F238E27FC236}">
                <a16:creationId xmlns:a16="http://schemas.microsoft.com/office/drawing/2014/main" id="{5D659D90-6E94-8B6F-68AC-D38C7E159887}"/>
              </a:ext>
            </a:extLst>
          </p:cNvPr>
          <p:cNvSpPr>
            <a:spLocks noGrp="1"/>
          </p:cNvSpPr>
          <p:nvPr>
            <p:ph idx="1"/>
          </p:nvPr>
        </p:nvSpPr>
        <p:spPr>
          <a:xfrm>
            <a:off x="5464782" y="1825625"/>
            <a:ext cx="6016017" cy="4351338"/>
          </a:xfrm>
        </p:spPr>
        <p:txBody>
          <a:bodyPr/>
          <a:lstStyle/>
          <a:p>
            <a:pPr marL="0" indent="0">
              <a:lnSpc>
                <a:spcPct val="100000"/>
              </a:lnSpc>
              <a:buNone/>
            </a:pPr>
            <a:r>
              <a:rPr lang="en-US" sz="3600" dirty="0">
                <a:latin typeface="Blob Spongey Lowercase" panose="02000503000000000000" pitchFamily="2" charset="0"/>
              </a:rPr>
              <a:t>What factors in this dataset have an impact on the success of the episode, in terms of viewership? </a:t>
            </a:r>
          </a:p>
          <a:p>
            <a:r>
              <a:rPr lang="en-US" dirty="0">
                <a:latin typeface="Blob Spongey Lowercase" panose="02000503000000000000" pitchFamily="2" charset="0"/>
              </a:rPr>
              <a:t>Characters included?</a:t>
            </a:r>
          </a:p>
          <a:p>
            <a:r>
              <a:rPr lang="en-US" dirty="0">
                <a:latin typeface="Blob Spongey Lowercase" panose="02000503000000000000" pitchFamily="2" charset="0"/>
              </a:rPr>
              <a:t>Animators/writers?</a:t>
            </a:r>
          </a:p>
          <a:p>
            <a:r>
              <a:rPr lang="en-US" dirty="0">
                <a:latin typeface="Blob Spongey Lowercase" panose="02000503000000000000" pitchFamily="2" charset="0"/>
              </a:rPr>
              <a:t>Chronological series order?</a:t>
            </a:r>
          </a:p>
          <a:p>
            <a:pPr lvl="1"/>
            <a:endParaRPr lang="en-US" dirty="0">
              <a:latin typeface="Blob Spongey Lowercase" panose="02000503000000000000" pitchFamily="2" charset="0"/>
            </a:endParaRPr>
          </a:p>
        </p:txBody>
      </p:sp>
      <p:pic>
        <p:nvPicPr>
          <p:cNvPr id="3074" name="Picture 2">
            <a:extLst>
              <a:ext uri="{FF2B5EF4-FFF2-40B4-BE49-F238E27FC236}">
                <a16:creationId xmlns:a16="http://schemas.microsoft.com/office/drawing/2014/main" id="{D32D86FB-9FF4-B363-DEAF-0C62EBDAB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617" y="1558977"/>
            <a:ext cx="6586400" cy="4933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76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55C7-9F16-9DD5-68A3-CC8B95B6D6E2}"/>
              </a:ext>
            </a:extLst>
          </p:cNvPr>
          <p:cNvSpPr>
            <a:spLocks noGrp="1"/>
          </p:cNvSpPr>
          <p:nvPr>
            <p:ph type="title"/>
          </p:nvPr>
        </p:nvSpPr>
        <p:spPr/>
        <p:txBody>
          <a:bodyPr>
            <a:normAutofit/>
          </a:bodyPr>
          <a:lstStyle/>
          <a:p>
            <a:pPr algn="ctr"/>
            <a:r>
              <a:rPr lang="en-US" sz="3600" dirty="0">
                <a:latin typeface="Spongeboy" pitchFamily="50" charset="0"/>
              </a:rPr>
              <a:t>SpongeBob Viewership Over Time</a:t>
            </a:r>
          </a:p>
        </p:txBody>
      </p:sp>
      <p:pic>
        <p:nvPicPr>
          <p:cNvPr id="7" name="Picture 6" descr="A graph with blue dots and red line&#10;&#10;AI-generated content may be incorrect.">
            <a:extLst>
              <a:ext uri="{FF2B5EF4-FFF2-40B4-BE49-F238E27FC236}">
                <a16:creationId xmlns:a16="http://schemas.microsoft.com/office/drawing/2014/main" id="{CF2C076D-DD6F-11BB-9861-232E2C8B8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155" y="1961583"/>
            <a:ext cx="5065786" cy="4160528"/>
          </a:xfrm>
          <a:prstGeom prst="rect">
            <a:avLst/>
          </a:prstGeom>
        </p:spPr>
      </p:pic>
      <p:pic>
        <p:nvPicPr>
          <p:cNvPr id="9" name="Picture 8" descr="A graph of a number of viewers&#10;&#10;AI-generated content may be incorrect.">
            <a:extLst>
              <a:ext uri="{FF2B5EF4-FFF2-40B4-BE49-F238E27FC236}">
                <a16:creationId xmlns:a16="http://schemas.microsoft.com/office/drawing/2014/main" id="{E41530DF-57D5-C2CD-EBEE-10B1EE02EB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9969" y="1961583"/>
            <a:ext cx="5065786" cy="4160528"/>
          </a:xfrm>
          <a:prstGeom prst="rect">
            <a:avLst/>
          </a:prstGeom>
        </p:spPr>
      </p:pic>
    </p:spTree>
    <p:extLst>
      <p:ext uri="{BB962C8B-B14F-4D97-AF65-F5344CB8AC3E}">
        <p14:creationId xmlns:p14="http://schemas.microsoft.com/office/powerpoint/2010/main" val="1682131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B389D-DBDC-9B58-C25C-8DABF5B04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6C76B-1C3B-3D8A-FB92-29ABF4D881F8}"/>
              </a:ext>
            </a:extLst>
          </p:cNvPr>
          <p:cNvSpPr>
            <a:spLocks noGrp="1"/>
          </p:cNvSpPr>
          <p:nvPr>
            <p:ph type="title"/>
          </p:nvPr>
        </p:nvSpPr>
        <p:spPr>
          <a:xfrm>
            <a:off x="592181" y="-49170"/>
            <a:ext cx="11007638" cy="1325563"/>
          </a:xfrm>
        </p:spPr>
        <p:txBody>
          <a:bodyPr>
            <a:normAutofit/>
          </a:bodyPr>
          <a:lstStyle/>
          <a:p>
            <a:pPr algn="ctr"/>
            <a:r>
              <a:rPr lang="en-US" sz="2600" dirty="0">
                <a:latin typeface="Spongeboy" pitchFamily="50" charset="0"/>
              </a:rPr>
              <a:t>The Impact of the Creative Minds Behind SpongeBob</a:t>
            </a:r>
          </a:p>
        </p:txBody>
      </p:sp>
      <p:pic>
        <p:nvPicPr>
          <p:cNvPr id="4" name="Picture 4" descr="Spongebob thinking render by JakeYT2009 on DeviantArt">
            <a:extLst>
              <a:ext uri="{FF2B5EF4-FFF2-40B4-BE49-F238E27FC236}">
                <a16:creationId xmlns:a16="http://schemas.microsoft.com/office/drawing/2014/main" id="{AD9DC263-FEAB-8ED0-132C-7431D381D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935" y="3127456"/>
            <a:ext cx="5987667" cy="37422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graph of blue and orange dots&#10;&#10;AI-generated content may be incorrect.">
            <a:extLst>
              <a:ext uri="{FF2B5EF4-FFF2-40B4-BE49-F238E27FC236}">
                <a16:creationId xmlns:a16="http://schemas.microsoft.com/office/drawing/2014/main" id="{6C324218-7DAD-1696-1875-6E715B32D4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1460" y="1065314"/>
            <a:ext cx="3096605" cy="2878084"/>
          </a:xfrm>
          <a:prstGeom prst="rect">
            <a:avLst/>
          </a:prstGeom>
        </p:spPr>
      </p:pic>
      <p:pic>
        <p:nvPicPr>
          <p:cNvPr id="5" name="Picture 4" descr="A graph with text and numbers&#10;&#10;AI-generated content may be incorrect.">
            <a:extLst>
              <a:ext uri="{FF2B5EF4-FFF2-40B4-BE49-F238E27FC236}">
                <a16:creationId xmlns:a16="http://schemas.microsoft.com/office/drawing/2014/main" id="{1E69CA8D-7F86-C555-86D2-FC801356A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6725" y="4024351"/>
            <a:ext cx="4582210" cy="2556192"/>
          </a:xfrm>
          <a:prstGeom prst="rect">
            <a:avLst/>
          </a:prstGeom>
        </p:spPr>
      </p:pic>
      <p:pic>
        <p:nvPicPr>
          <p:cNvPr id="6" name="Picture 5" descr="A graph of blue and orange dots&#10;&#10;AI-generated content may be incorrect.">
            <a:extLst>
              <a:ext uri="{FF2B5EF4-FFF2-40B4-BE49-F238E27FC236}">
                <a16:creationId xmlns:a16="http://schemas.microsoft.com/office/drawing/2014/main" id="{760A3C25-E896-0BEF-423E-866CF2376B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27080" y="3872664"/>
            <a:ext cx="3193712" cy="2878085"/>
          </a:xfrm>
          <a:prstGeom prst="rect">
            <a:avLst/>
          </a:prstGeom>
        </p:spPr>
      </p:pic>
      <p:pic>
        <p:nvPicPr>
          <p:cNvPr id="12" name="Picture 11" descr="A chart of a variety of colored boxes&#10;&#10;AI-generated content may be incorrect.">
            <a:extLst>
              <a:ext uri="{FF2B5EF4-FFF2-40B4-BE49-F238E27FC236}">
                <a16:creationId xmlns:a16="http://schemas.microsoft.com/office/drawing/2014/main" id="{D1C70DDD-D9BD-09D8-EF6B-BDB7D8ED62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410" y="899210"/>
            <a:ext cx="3668315" cy="2751236"/>
          </a:xfrm>
          <a:prstGeom prst="rect">
            <a:avLst/>
          </a:prstGeom>
        </p:spPr>
      </p:pic>
      <p:pic>
        <p:nvPicPr>
          <p:cNvPr id="14" name="Picture 13" descr="A graph with orange and blue dots&#10;&#10;AI-generated content may be incorrect.">
            <a:extLst>
              <a:ext uri="{FF2B5EF4-FFF2-40B4-BE49-F238E27FC236}">
                <a16:creationId xmlns:a16="http://schemas.microsoft.com/office/drawing/2014/main" id="{A1893340-BF05-C20A-BE58-AFCA245FCA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92718" y="1069383"/>
            <a:ext cx="4582210" cy="2769920"/>
          </a:xfrm>
          <a:prstGeom prst="rect">
            <a:avLst/>
          </a:prstGeom>
        </p:spPr>
      </p:pic>
    </p:spTree>
    <p:extLst>
      <p:ext uri="{BB962C8B-B14F-4D97-AF65-F5344CB8AC3E}">
        <p14:creationId xmlns:p14="http://schemas.microsoft.com/office/powerpoint/2010/main" val="1151252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0A2C-8816-CF8E-9800-861F888C9F19}"/>
            </a:ext>
          </a:extLst>
        </p:cNvPr>
        <p:cNvGrpSpPr/>
        <p:nvPr/>
      </p:nvGrpSpPr>
      <p:grpSpPr>
        <a:xfrm>
          <a:off x="0" y="0"/>
          <a:ext cx="0" cy="0"/>
          <a:chOff x="0" y="0"/>
          <a:chExt cx="0" cy="0"/>
        </a:xfrm>
      </p:grpSpPr>
      <p:pic>
        <p:nvPicPr>
          <p:cNvPr id="16" name="Picture 15" descr="A graph of a plot&#10;&#10;AI-generated content may be incorrect.">
            <a:extLst>
              <a:ext uri="{FF2B5EF4-FFF2-40B4-BE49-F238E27FC236}">
                <a16:creationId xmlns:a16="http://schemas.microsoft.com/office/drawing/2014/main" id="{0C290688-B9CE-B753-931B-093193971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1548" y="1382831"/>
            <a:ext cx="6651420" cy="4988565"/>
          </a:xfrm>
          <a:prstGeom prst="rect">
            <a:avLst/>
          </a:prstGeom>
        </p:spPr>
      </p:pic>
      <p:sp>
        <p:nvSpPr>
          <p:cNvPr id="2" name="Title 1">
            <a:extLst>
              <a:ext uri="{FF2B5EF4-FFF2-40B4-BE49-F238E27FC236}">
                <a16:creationId xmlns:a16="http://schemas.microsoft.com/office/drawing/2014/main" id="{0DC4620E-EE3E-DF30-8A90-D28B2EA4E32C}"/>
              </a:ext>
            </a:extLst>
          </p:cNvPr>
          <p:cNvSpPr>
            <a:spLocks noGrp="1"/>
          </p:cNvSpPr>
          <p:nvPr>
            <p:ph type="title"/>
          </p:nvPr>
        </p:nvSpPr>
        <p:spPr/>
        <p:txBody>
          <a:bodyPr>
            <a:noAutofit/>
          </a:bodyPr>
          <a:lstStyle/>
          <a:p>
            <a:r>
              <a:rPr lang="en-US" sz="4000" dirty="0">
                <a:latin typeface="Spongeboy" pitchFamily="50" charset="0"/>
              </a:rPr>
              <a:t>What Else Drives This Change?</a:t>
            </a:r>
          </a:p>
        </p:txBody>
      </p:sp>
      <p:sp>
        <p:nvSpPr>
          <p:cNvPr id="3" name="Content Placeholder 2">
            <a:extLst>
              <a:ext uri="{FF2B5EF4-FFF2-40B4-BE49-F238E27FC236}">
                <a16:creationId xmlns:a16="http://schemas.microsoft.com/office/drawing/2014/main" id="{01A2EFF1-5164-3685-0AB5-349DEADB7125}"/>
              </a:ext>
            </a:extLst>
          </p:cNvPr>
          <p:cNvSpPr>
            <a:spLocks noGrp="1"/>
          </p:cNvSpPr>
          <p:nvPr>
            <p:ph idx="1"/>
          </p:nvPr>
        </p:nvSpPr>
        <p:spPr>
          <a:xfrm>
            <a:off x="1398270" y="1701446"/>
            <a:ext cx="3970867" cy="4351338"/>
          </a:xfrm>
        </p:spPr>
        <p:txBody>
          <a:bodyPr/>
          <a:lstStyle/>
          <a:p>
            <a:pPr marL="0" indent="0">
              <a:buNone/>
            </a:pPr>
            <a:r>
              <a:rPr lang="en-US" sz="2800" b="0" i="0" dirty="0">
                <a:solidFill>
                  <a:srgbClr val="CCCCCC"/>
                </a:solidFill>
                <a:effectLst/>
                <a:latin typeface="Consolas" panose="020B0609020204030204" pitchFamily="49" charset="0"/>
              </a:rPr>
              <a:t>'Animation'</a:t>
            </a:r>
          </a:p>
          <a:p>
            <a:pPr marL="0" indent="0">
              <a:buNone/>
            </a:pPr>
            <a:r>
              <a:rPr lang="en-US" sz="2800" b="0" i="0" dirty="0">
                <a:solidFill>
                  <a:srgbClr val="CCCCCC"/>
                </a:solidFill>
                <a:effectLst/>
                <a:latin typeface="Consolas" panose="020B0609020204030204" pitchFamily="49" charset="0"/>
              </a:rPr>
              <a:t>'Writer(s)'</a:t>
            </a:r>
          </a:p>
          <a:p>
            <a:pPr marL="0" indent="0">
              <a:buNone/>
            </a:pPr>
            <a:r>
              <a:rPr lang="en-US" sz="2800" b="0" i="0" dirty="0">
                <a:solidFill>
                  <a:srgbClr val="CCCCCC"/>
                </a:solidFill>
                <a:effectLst/>
                <a:latin typeface="Consolas" panose="020B0609020204030204" pitchFamily="49" charset="0"/>
              </a:rPr>
              <a:t>'Supervising Producer(s)'</a:t>
            </a:r>
            <a:endParaRPr lang="en-US" sz="2800" dirty="0">
              <a:solidFill>
                <a:srgbClr val="CCCCCC"/>
              </a:solidFill>
              <a:latin typeface="Consolas" panose="020B0609020204030204" pitchFamily="49" charset="0"/>
            </a:endParaRPr>
          </a:p>
          <a:p>
            <a:pPr marL="0" indent="0">
              <a:buNone/>
            </a:pPr>
            <a:r>
              <a:rPr lang="en-US" sz="2800" b="0" i="0" dirty="0">
                <a:solidFill>
                  <a:srgbClr val="0070C0"/>
                </a:solidFill>
                <a:effectLst/>
                <a:latin typeface="Consolas" panose="020B0609020204030204" pitchFamily="49" charset="0"/>
              </a:rPr>
              <a:t>'characters'</a:t>
            </a:r>
            <a:endParaRPr lang="en-US" sz="2800" b="0" i="0" dirty="0">
              <a:solidFill>
                <a:schemeClr val="tx2"/>
              </a:solidFill>
              <a:effectLst/>
              <a:latin typeface="Consolas" panose="020B0609020204030204" pitchFamily="49" charset="0"/>
            </a:endParaRPr>
          </a:p>
        </p:txBody>
      </p:sp>
      <p:pic>
        <p:nvPicPr>
          <p:cNvPr id="11" name="Graphic 10" descr="Checkmark with solid fill">
            <a:extLst>
              <a:ext uri="{FF2B5EF4-FFF2-40B4-BE49-F238E27FC236}">
                <a16:creationId xmlns:a16="http://schemas.microsoft.com/office/drawing/2014/main" id="{F029CA40-E9C8-869C-16C5-EF7FA61A0B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1070" y="1701446"/>
            <a:ext cx="457200" cy="457200"/>
          </a:xfrm>
          <a:prstGeom prst="rect">
            <a:avLst/>
          </a:prstGeom>
        </p:spPr>
      </p:pic>
      <p:sp>
        <p:nvSpPr>
          <p:cNvPr id="20" name="Cross 19">
            <a:extLst>
              <a:ext uri="{FF2B5EF4-FFF2-40B4-BE49-F238E27FC236}">
                <a16:creationId xmlns:a16="http://schemas.microsoft.com/office/drawing/2014/main" id="{87A0455F-7920-2BCF-AB70-7B4702987D87}"/>
              </a:ext>
            </a:extLst>
          </p:cNvPr>
          <p:cNvSpPr/>
          <p:nvPr/>
        </p:nvSpPr>
        <p:spPr>
          <a:xfrm rot="2700000" flipH="1">
            <a:off x="933130" y="3640574"/>
            <a:ext cx="473081" cy="473081"/>
          </a:xfrm>
          <a:prstGeom prst="plus">
            <a:avLst>
              <a:gd name="adj" fmla="val 46641"/>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Checkmark with solid fill">
            <a:extLst>
              <a:ext uri="{FF2B5EF4-FFF2-40B4-BE49-F238E27FC236}">
                <a16:creationId xmlns:a16="http://schemas.microsoft.com/office/drawing/2014/main" id="{6155DEE4-9D85-C55C-B92E-4B8093518B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1070" y="2193145"/>
            <a:ext cx="457200" cy="457200"/>
          </a:xfrm>
          <a:prstGeom prst="rect">
            <a:avLst/>
          </a:prstGeom>
        </p:spPr>
      </p:pic>
      <p:pic>
        <p:nvPicPr>
          <p:cNvPr id="22" name="Graphic 21" descr="Checkmark with solid fill">
            <a:extLst>
              <a:ext uri="{FF2B5EF4-FFF2-40B4-BE49-F238E27FC236}">
                <a16:creationId xmlns:a16="http://schemas.microsoft.com/office/drawing/2014/main" id="{E133B440-7F54-82BC-D098-36ED085FDD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1070" y="2684844"/>
            <a:ext cx="457200" cy="457200"/>
          </a:xfrm>
          <a:prstGeom prst="rect">
            <a:avLst/>
          </a:prstGeom>
        </p:spPr>
      </p:pic>
      <p:pic>
        <p:nvPicPr>
          <p:cNvPr id="1026" name="Picture 2" descr="SpongeBob characters png by PPGFanantic2000 on DeviantArt">
            <a:extLst>
              <a:ext uri="{FF2B5EF4-FFF2-40B4-BE49-F238E27FC236}">
                <a16:creationId xmlns:a16="http://schemas.microsoft.com/office/drawing/2014/main" id="{C40EEA2E-722D-2EF1-40B7-FB9D938B56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241" y="4630455"/>
            <a:ext cx="4191033" cy="1930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216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07B1D-7545-984F-5565-EE6CBFF81888}"/>
              </a:ext>
            </a:extLst>
          </p:cNvPr>
          <p:cNvSpPr>
            <a:spLocks noGrp="1"/>
          </p:cNvSpPr>
          <p:nvPr>
            <p:ph type="title"/>
          </p:nvPr>
        </p:nvSpPr>
        <p:spPr/>
        <p:txBody>
          <a:bodyPr>
            <a:normAutofit/>
          </a:bodyPr>
          <a:lstStyle/>
          <a:p>
            <a:r>
              <a:rPr lang="en-US" sz="3600" dirty="0">
                <a:latin typeface="Spongeboy" pitchFamily="50" charset="0"/>
              </a:rPr>
              <a:t>What About our Research Question?</a:t>
            </a:r>
          </a:p>
        </p:txBody>
      </p:sp>
      <p:sp>
        <p:nvSpPr>
          <p:cNvPr id="3" name="Content Placeholder 2">
            <a:extLst>
              <a:ext uri="{FF2B5EF4-FFF2-40B4-BE49-F238E27FC236}">
                <a16:creationId xmlns:a16="http://schemas.microsoft.com/office/drawing/2014/main" id="{ACFB93F8-AA79-C08F-B48A-E30CD6C3578E}"/>
              </a:ext>
            </a:extLst>
          </p:cNvPr>
          <p:cNvSpPr>
            <a:spLocks noGrp="1"/>
          </p:cNvSpPr>
          <p:nvPr>
            <p:ph idx="1"/>
          </p:nvPr>
        </p:nvSpPr>
        <p:spPr/>
        <p:txBody>
          <a:bodyPr/>
          <a:lstStyle/>
          <a:p>
            <a:pPr marL="0" indent="0">
              <a:buNone/>
            </a:pPr>
            <a:r>
              <a:rPr lang="en-US" dirty="0">
                <a:latin typeface="Blob Spongey Lowercase" panose="02000503000000000000" pitchFamily="2" charset="0"/>
              </a:rPr>
              <a:t>What factors in this dataset have an impact on the success of the episode, in terms of viewership? </a:t>
            </a:r>
          </a:p>
          <a:p>
            <a:r>
              <a:rPr lang="en-US" dirty="0">
                <a:latin typeface="Blob Spongey Lowercase" panose="02000503000000000000" pitchFamily="2" charset="0"/>
              </a:rPr>
              <a:t>Of our variables of interest, only episode/season, animator, writer, and supervising director appear to have an impact on the viewership of an episode upon</a:t>
            </a:r>
            <a:br>
              <a:rPr lang="en-US" dirty="0">
                <a:latin typeface="Blob Spongey Lowercase" panose="02000503000000000000" pitchFamily="2" charset="0"/>
              </a:rPr>
            </a:br>
            <a:r>
              <a:rPr lang="en-US" dirty="0">
                <a:latin typeface="Blob Spongey Lowercase" panose="02000503000000000000" pitchFamily="2" charset="0"/>
              </a:rPr>
              <a:t>its airing.</a:t>
            </a:r>
          </a:p>
          <a:p>
            <a:r>
              <a:rPr lang="en-US" dirty="0">
                <a:latin typeface="Blob Spongey Lowercase" panose="02000503000000000000" pitchFamily="2" charset="0"/>
              </a:rPr>
              <a:t>Correlation =/= causation! The</a:t>
            </a:r>
            <a:br>
              <a:rPr lang="en-US" dirty="0">
                <a:latin typeface="Blob Spongey Lowercase" panose="02000503000000000000" pitchFamily="2" charset="0"/>
              </a:rPr>
            </a:br>
            <a:r>
              <a:rPr lang="en-US" dirty="0">
                <a:latin typeface="Blob Spongey Lowercase" panose="02000503000000000000" pitchFamily="2" charset="0"/>
              </a:rPr>
              <a:t>significance of these variables could</a:t>
            </a:r>
            <a:br>
              <a:rPr lang="en-US" dirty="0">
                <a:latin typeface="Blob Spongey Lowercase" panose="02000503000000000000" pitchFamily="2" charset="0"/>
              </a:rPr>
            </a:br>
            <a:r>
              <a:rPr lang="en-US" dirty="0">
                <a:latin typeface="Blob Spongey Lowercase" panose="02000503000000000000" pitchFamily="2" charset="0"/>
              </a:rPr>
              <a:t>be due to any number of things, and</a:t>
            </a:r>
            <a:br>
              <a:rPr lang="en-US" dirty="0">
                <a:latin typeface="Blob Spongey Lowercase" panose="02000503000000000000" pitchFamily="2" charset="0"/>
              </a:rPr>
            </a:br>
            <a:r>
              <a:rPr lang="en-US" dirty="0">
                <a:latin typeface="Blob Spongey Lowercase" panose="02000503000000000000" pitchFamily="2" charset="0"/>
              </a:rPr>
              <a:t>does not guarantee a relationship!</a:t>
            </a:r>
          </a:p>
          <a:p>
            <a:endParaRPr lang="en-US" dirty="0">
              <a:latin typeface="Blob Spongey Lowercase" panose="02000503000000000000" pitchFamily="2" charset="0"/>
            </a:endParaRPr>
          </a:p>
        </p:txBody>
      </p:sp>
      <p:pic>
        <p:nvPicPr>
          <p:cNvPr id="10242" name="Picture 2">
            <a:extLst>
              <a:ext uri="{FF2B5EF4-FFF2-40B4-BE49-F238E27FC236}">
                <a16:creationId xmlns:a16="http://schemas.microsoft.com/office/drawing/2014/main" id="{EF1898E4-5A0F-F94F-7265-4CE51A80C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3400" y="2887839"/>
            <a:ext cx="545782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05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6EC03-3FF7-5481-9BF2-A84C2D54204A}"/>
              </a:ext>
            </a:extLst>
          </p:cNvPr>
          <p:cNvSpPr>
            <a:spLocks noGrp="1"/>
          </p:cNvSpPr>
          <p:nvPr>
            <p:ph type="title"/>
          </p:nvPr>
        </p:nvSpPr>
        <p:spPr>
          <a:xfrm>
            <a:off x="838200" y="4470400"/>
            <a:ext cx="10515600" cy="1916470"/>
          </a:xfrm>
        </p:spPr>
        <p:txBody>
          <a:bodyPr>
            <a:noAutofit/>
          </a:bodyPr>
          <a:lstStyle/>
          <a:p>
            <a:pPr algn="ctr"/>
            <a:r>
              <a:rPr lang="en-US" sz="12400" dirty="0">
                <a:latin typeface="Spongebob 3D" panose="02000600000000000000" pitchFamily="2" charset="0"/>
              </a:rPr>
              <a:t>Any Questions?</a:t>
            </a:r>
          </a:p>
        </p:txBody>
      </p:sp>
      <p:pic>
        <p:nvPicPr>
          <p:cNvPr id="13314" name="Picture 2">
            <a:extLst>
              <a:ext uri="{FF2B5EF4-FFF2-40B4-BE49-F238E27FC236}">
                <a16:creationId xmlns:a16="http://schemas.microsoft.com/office/drawing/2014/main" id="{A95BA19B-4AED-2040-D20A-E55246CB0E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862" y="-1086467"/>
            <a:ext cx="11964277" cy="6730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937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1724</TotalTime>
  <Words>1198</Words>
  <Application>Microsoft Office PowerPoint</Application>
  <PresentationFormat>Widescreen</PresentationFormat>
  <Paragraphs>69</Paragraphs>
  <Slides>10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Aptos Display</vt:lpstr>
      <vt:lpstr>Arial</vt:lpstr>
      <vt:lpstr>Blob Spongey Lowercase</vt:lpstr>
      <vt:lpstr>Consolas</vt:lpstr>
      <vt:lpstr>Spongebob 3D</vt:lpstr>
      <vt:lpstr>Spongeboy</vt:lpstr>
      <vt:lpstr>Office Theme</vt:lpstr>
      <vt:lpstr>PowerPoint Presentation</vt:lpstr>
      <vt:lpstr>Introduction and Summary</vt:lpstr>
      <vt:lpstr>25 total columns, 7 utilized</vt:lpstr>
      <vt:lpstr>The Big 7:</vt:lpstr>
      <vt:lpstr>Research Question</vt:lpstr>
      <vt:lpstr>SpongeBob Viewership Over Time</vt:lpstr>
      <vt:lpstr>The Impact of the Creative Minds Behind SpongeBob</vt:lpstr>
      <vt:lpstr>What Else Drives This Change?</vt:lpstr>
      <vt:lpstr>What About our Research Question?</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Crystal McEnhimer</dc:creator>
  <cp:lastModifiedBy>Crystal McEnhimer</cp:lastModifiedBy>
  <cp:revision>4</cp:revision>
  <dcterms:created xsi:type="dcterms:W3CDTF">2025-03-02T21:38:42Z</dcterms:created>
  <dcterms:modified xsi:type="dcterms:W3CDTF">2025-03-04T02:23:58Z</dcterms:modified>
</cp:coreProperties>
</file>